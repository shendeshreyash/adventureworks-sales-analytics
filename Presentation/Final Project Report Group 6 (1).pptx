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332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2286000" cy="228600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</a:rPr>
              <a:t>ExcelR Final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Adventure Works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Project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|  MySQL  |  Tableau  |  Power BI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657600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Group - 6 ( Ranjith Kumar V, Roshini A, Shreyash Shende, Soundarya P, Ruturaj </a:t>
            </a:r>
            <a:r>
              <a:rPr lang="en-US" sz="1300" dirty="0" err="1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Rhatwal</a:t>
            </a:r>
            <a:r>
              <a:rPr lang="en-US" sz="13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Pushpa P )  </a:t>
            </a:r>
          </a:p>
          <a:p>
            <a:r>
              <a:rPr lang="en-US" sz="1300" dirty="0" err="1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ExcelR</a:t>
            </a:r>
            <a:r>
              <a:rPr lang="en-US" sz="13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Analyst Project</a:t>
            </a:r>
            <a:endParaRPr lang="en-US" sz="1300" dirty="0"/>
          </a:p>
          <a:p>
            <a:r>
              <a:rPr lang="en-US" sz="13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Sales Performance Project  |  July 2026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97764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44531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9776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00400" y="44531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9776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0" y="44531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9776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44531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Adventure Works?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417320"/>
            <a:ext cx="6492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147218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Retailer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764792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is a multinational manufacturer and retailer of bicycles, components, clothing, and accessories.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304288"/>
            <a:ext cx="6492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235915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Multi-Region Operations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265176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sold across North America, Europe, and the Asia-Pacific region through online and reseller channels.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3191256"/>
            <a:ext cx="6492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" y="32461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Diverse Product Range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3538728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include Mountain Bikes, Road Bikes, Touring Bikes, and a wide range of Accessories.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4078224"/>
            <a:ext cx="6492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" y="413308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" y="4425696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performance, customer behavior, and regional trends to drive data-backed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0B429">
              <a:alpha val="12000"/>
            </a:srgbClr>
          </a:solidFill>
          <a:ln w="19050">
            <a:solidFill>
              <a:srgbClr val="F0B429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16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2344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70992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Transformation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1031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raw sales data, fix missing values, standardize formats, and prepare for analysis.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11430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02C39A">
              <a:alpha val="12000"/>
            </a:srgbClr>
          </a:solidFill>
          <a:ln w="1905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216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2344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170992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21031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behavior, product sales, and regional performance across all years.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96167">
              <a:alpha val="12000"/>
            </a:srgbClr>
          </a:solidFill>
          <a:ln w="19050">
            <a:solidFill>
              <a:srgbClr val="F96167">
                <a:alpha val="5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0906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1089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" y="35844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2920" y="397764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dynamic dashboards in Tableau and Power BI with filters, slicers, and drill-downs.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00600" y="30175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0B429">
              <a:alpha val="12000"/>
            </a:srgbClr>
          </a:solidFill>
          <a:ln w="19050">
            <a:solidFill>
              <a:srgbClr val="F0B429">
                <a:alpha val="5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937760" y="30906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31089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37760" y="35844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37760" y="397764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actionable insights and strategic recommendations to support decision-making.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BI stack for this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544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1214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Excel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8328" y="2606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8328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fix missing values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38328" y="31546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sales by year, month, category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8328" y="3703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 / IF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" y="3904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enrichment and conditional logic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8328" y="4251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8328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Year-wise, product-wise visualizations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441448" y="141732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E0F4F8"/>
          </a:solidFill>
          <a:ln w="12700">
            <a:solidFill>
              <a:srgbClr val="E0F4F8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55448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32888" y="21214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551176" y="2606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551176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AdventureWorks tables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551176" y="31546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551176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Fact &amp; Dimension tables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551176" y="3703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551176" y="3904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sales by year, country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2551176" y="4251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551176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customers, top products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654296" y="141732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FEF0E6"/>
          </a:solidFill>
          <a:ln w="12700">
            <a:solidFill>
              <a:srgbClr val="FEF0E6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554480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45736" y="21214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764024" y="2606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764024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Profit, Orders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4764024" y="31546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4764024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Month-wise &amp; Year-wise trends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764024" y="3703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764024" y="3904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country/region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764024" y="4251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764024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&amp; parameters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6867144" y="141732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FEFBE6"/>
          </a:solidFill>
          <a:ln w="12700">
            <a:solidFill>
              <a:srgbClr val="FEFBE6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1554480"/>
            <a:ext cx="502920" cy="50292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958584" y="21214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6976872" y="26060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6976872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YoY, MoM, cumulative metrics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976872" y="31546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6976872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territory deep-dives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6976872" y="3703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6976872" y="3904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Customers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6976872" y="4251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6976872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Category, Country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 from raw data to business insights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325880" cy="3108960"/>
          </a:xfrm>
          <a:prstGeom prst="roundRect">
            <a:avLst>
              <a:gd name="adj" fmla="val 6897"/>
            </a:avLst>
          </a:prstGeom>
          <a:solidFill>
            <a:srgbClr val="F0B429">
              <a:alpha val="15000"/>
            </a:srgbClr>
          </a:solidFill>
          <a:ln w="19050">
            <a:solidFill>
              <a:srgbClr val="F0B429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276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9184" y="2231136"/>
            <a:ext cx="1216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" y="278892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Worksheet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SQL source files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00200" y="27432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B429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37360" y="1508760"/>
            <a:ext cx="1325880" cy="3108960"/>
          </a:xfrm>
          <a:prstGeom prst="roundRect">
            <a:avLst>
              <a:gd name="adj" fmla="val 6897"/>
            </a:avLst>
          </a:prstGeom>
          <a:solidFill>
            <a:srgbClr val="4CAF50">
              <a:alpha val="15000"/>
            </a:srgbClr>
          </a:solidFill>
          <a:ln w="19050">
            <a:solidFill>
              <a:srgbClr val="4CAF50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6276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92224" y="2231136"/>
            <a:ext cx="1216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Cleaning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92224" y="278892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errors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&amp; format 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63240" y="27432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CAF50"/>
                </a:solidFill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1508760"/>
            <a:ext cx="1325880" cy="3108960"/>
          </a:xfrm>
          <a:prstGeom prst="roundRect">
            <a:avLst>
              <a:gd name="adj" fmla="val 6897"/>
            </a:avLst>
          </a:prstGeom>
          <a:solidFill>
            <a:srgbClr val="00758F">
              <a:alpha val="15000"/>
            </a:srgbClr>
          </a:solidFill>
          <a:ln w="19050">
            <a:solidFill>
              <a:srgbClr val="00758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6276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55264" y="2231136"/>
            <a:ext cx="1216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55264" y="278892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tables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SQL queries &amp; joins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7432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758F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508760"/>
            <a:ext cx="1325880" cy="3108960"/>
          </a:xfrm>
          <a:prstGeom prst="roundRect">
            <a:avLst>
              <a:gd name="adj" fmla="val 6897"/>
            </a:avLst>
          </a:prstGeom>
          <a:solidFill>
            <a:srgbClr val="E97627">
              <a:alpha val="15000"/>
            </a:srgbClr>
          </a:solidFill>
          <a:ln w="19050">
            <a:solidFill>
              <a:srgbClr val="E97627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6276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7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18304" y="2231136"/>
            <a:ext cx="1216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8304" y="278892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 &amp; maps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89320" y="27432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97627"/>
                </a:solidFill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1508760"/>
            <a:ext cx="1325880" cy="3108960"/>
          </a:xfrm>
          <a:prstGeom prst="roundRect">
            <a:avLst>
              <a:gd name="adj" fmla="val 6897"/>
            </a:avLst>
          </a:prstGeom>
          <a:solidFill>
            <a:srgbClr val="F2C811">
              <a:alpha val="15000"/>
            </a:srgbClr>
          </a:solidFill>
          <a:ln w="19050">
            <a:solidFill>
              <a:srgbClr val="F2C811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6276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81344" y="2231136"/>
            <a:ext cx="1216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81344" y="278892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 &amp; DAX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52360" y="27432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C811"/>
                </a:solidFill>
              </a:rPr>
              <a:t>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0" y="1508760"/>
            <a:ext cx="1325880" cy="3108960"/>
          </a:xfrm>
          <a:prstGeom prst="roundRect">
            <a:avLst>
              <a:gd name="adj" fmla="val 6897"/>
            </a:avLst>
          </a:prstGeom>
          <a:solidFill>
            <a:srgbClr val="02C39A">
              <a:alpha val="15000"/>
            </a:srgbClr>
          </a:solidFill>
          <a:ln w="1905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62763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644384" y="2231136"/>
            <a:ext cx="1216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44384" y="278892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Strategic decisions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4300"/>
            <a:ext cx="914400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Analysis &amp;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pivot tables &amp; charts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819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7218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76479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fixed null values, corrected date formats and data types.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" y="2304288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46888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35915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Tables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60120" y="26517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summary, year-wise revenue breakdown, product category analysis.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0040" y="3191256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3558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2461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 Functions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353872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 to enrich sales data with customer and product details.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20040" y="4078224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24281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413308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Created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60120" y="442569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and pie charts for Year-wise Sales, Monthly Trends, and Product Performance.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71C710-A142-F9B8-1E21-A50A8C4CFC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288" t="26947" r="33530" b="10739"/>
          <a:stretch/>
        </p:blipFill>
        <p:spPr>
          <a:xfrm>
            <a:off x="4383582" y="1456920"/>
            <a:ext cx="4666254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storage, joins, aggregations &amp; business queries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0758F">
              <a:alpha val="20000"/>
            </a:srgbClr>
          </a:solidFill>
          <a:ln w="12700">
            <a:solidFill>
              <a:srgbClr val="00758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517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Imported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81051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FactInternetSales, DimCustomer,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DimProduct, DimDate, DimGeography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6517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0758F">
              <a:alpha val="20000"/>
            </a:srgbClr>
          </a:solidFill>
          <a:ln w="12700">
            <a:solidFill>
              <a:srgbClr val="00758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7066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Used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99923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on CustomerKey,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ProductKey, DateKey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4630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0758F">
              <a:alpha val="20000"/>
            </a:srgbClr>
          </a:solidFill>
          <a:ln w="12700">
            <a:solidFill>
              <a:srgbClr val="00758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517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15768" y="181051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COUNT, AVG with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Year, Country, Category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265176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00758F">
              <a:alpha val="20000"/>
            </a:srgbClr>
          </a:solidFill>
          <a:ln w="12700">
            <a:solidFill>
              <a:srgbClr val="00758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27066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15768" y="299923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customers, Top products,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 &amp; seasonality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1417320"/>
            <a:ext cx="3840480" cy="3520440"/>
          </a:xfrm>
          <a:prstGeom prst="roundRect">
            <a:avLst>
              <a:gd name="adj" fmla="val 2597"/>
            </a:avLst>
          </a:prstGeom>
          <a:solidFill>
            <a:srgbClr val="0A1628"/>
          </a:solidFill>
          <a:ln w="12700">
            <a:solidFill>
              <a:srgbClr val="0075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5727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Year-wise Sales Summary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22311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f.OrderYear AS [Year],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2542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SUM(f.SalesAmount) AS TotalSales,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8529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SUM(f.OrderQuantity) AS TotalOrders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3163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FactInternetSales 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DimDate 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785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f.OrderDateKey = d.DateKey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4096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f.OrderYear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4407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f.OrderYear;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sales visualizations &amp; KPIs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360" y="1389888"/>
            <a:ext cx="2514600" cy="521208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46520" y="14264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46520" y="16276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29.36M · Profit 12.08M · Total Orders 28K &amp; Total Customers 18K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09360" y="1984248"/>
            <a:ext cx="2514600" cy="521208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20208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Trend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46520" y="22219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showing month-wise sales pattern across the year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309360" y="2578608"/>
            <a:ext cx="2514600" cy="521208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46520" y="26151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Year-wise Sales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46520" y="28163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2010–2014 with 2013 peak at 16.34M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09360" y="3172968"/>
            <a:ext cx="2514600" cy="521208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46520" y="32095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Country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46520" y="34107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breakdown: Australia, USA, UK, Germany, France, Canada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09360" y="3767328"/>
            <a:ext cx="2514600" cy="521208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46520" y="38039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Products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46520" y="400507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Mountain-200 series leads with 1.37M in top spot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309360" y="4361688"/>
            <a:ext cx="2514600" cy="521208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46520" y="43982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Filters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46520" y="45994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Quarter, Country, Month slicers for dynamic exploration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B58D6D5-9BC8-58F9-1AAB-9F2064FA8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87" y="1325880"/>
            <a:ext cx="6034133" cy="3557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KPI tiles, slicers &amp; drill-down capability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7520" y="1417320"/>
            <a:ext cx="580644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46304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0B429">
              <a:alpha val="15000"/>
            </a:srgbClr>
          </a:solidFill>
          <a:ln w="12700">
            <a:solidFill>
              <a:srgbClr val="F0B429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4996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29.36M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11480" y="18653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2258568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2951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12.08M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11480" y="26609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3054096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F96167">
              <a:alpha val="15000"/>
            </a:srgbClr>
          </a:solidFill>
          <a:ln w="12700">
            <a:solidFill>
              <a:srgbClr val="F96167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0906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28K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11480" y="34564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3849624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886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18K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11480" y="42519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139903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Growth Peak — 2013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78408" y="17465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surged to 16.35M in 2013, representing the highest annual revenue across all years (2010–2014).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32588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459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3248" y="139903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 Leads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13248" y="17465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(9.39M) and Australia (9.06M) together account for over 60% of total global sales.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2587752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0779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8408" y="26609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Bikes Drive Revenue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78408" y="300837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and Road bikes are the primary revenue generators; Accessories drive highest transaction frequency.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2587752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0779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13248" y="26609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Customers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13248" y="300837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(Jordan T., Willie Xu, Nichole…) contribute disproportionately to overall order value.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0040" y="3849624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69664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8408" y="392277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Demand Pattern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78408" y="427024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sales spikes observed in Q2 and Q4 driven by seasonal buying behavior globally.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754880" y="3849624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169664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13248" y="392277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vs Reseller Margins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413248" y="427024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online channel delivers higher profit margins (41%) compared to reseller/wholesale channels.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derived from data insights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F0B429">
              <a:alpha val="12000"/>
            </a:srgbClr>
          </a:solidFill>
          <a:ln w="12700">
            <a:solidFill>
              <a:srgbClr val="F0B429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499616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Bundling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764792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accessories (helmets, cage) with bike purchases. 65% affinity rate makes this a proven upsell strategy.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85416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203704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Outdoor Categories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on the accessories segment's high transaction frequency by expanding the outdoor product range.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F96167">
              <a:alpha val="12000"/>
            </a:srgbClr>
          </a:solidFill>
          <a:ln w="12700">
            <a:solidFill>
              <a:srgbClr val="F96167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9504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907792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 Investment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172968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ad spend toward high-income segments in underperforming European markets (France, Germany).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57016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93592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Loyalty Programs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877056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loyalty rewards for repeat customers to retain the top-performing customer cohort and boost LTV.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261104"/>
            <a:ext cx="8412480" cy="594360"/>
          </a:xfrm>
          <a:prstGeom prst="roundRect">
            <a:avLst>
              <a:gd name="adj" fmla="val 10769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97680"/>
            <a:ext cx="548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4315968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Product Focus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581144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premium SKU offerings in Mountain and Road bike lines where margins are significantly higher.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encountered and how we overcame them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51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898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Complexity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70992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date formats, duplicate customer records, and null values required extensive Excel preprocessing before analysis could begin.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46320" y="1325880"/>
            <a:ext cx="4251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57276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3898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Modelling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40680" y="170992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accurate relationships between Fact and Dimension tables in Power BI required careful key mapping and schema validation.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2377440"/>
            <a:ext cx="4251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2432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44144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SQL Joins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14400" y="276148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 across FactInternetSales, DimCustomer, DimProduct, and DimDate required iterative query refinement.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846320" y="2377440"/>
            <a:ext cx="4251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62432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244144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40680" y="276148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clean, non-cluttered layouts with effective use of color, spacing, and chart types in both Tableau and Power BI.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538345" y="3505397"/>
            <a:ext cx="4389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4620" y="386791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194943" y="3604801"/>
            <a:ext cx="445784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Calculations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194943" y="3634740"/>
            <a:ext cx="341970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time intelligence measures in Power BI required understanding of DAX context and filter propagation.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can evolve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0B429">
              <a:alpha val="12000"/>
            </a:srgbClr>
          </a:solidFill>
          <a:ln w="19050">
            <a:solidFill>
              <a:srgbClr val="F0B429">
                <a:alpha val="55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Sales Forecasting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07008" y="1993392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models to predict future sales trends and seasonal demand.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146304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8B5CF6">
              <a:alpha val="12000"/>
            </a:srgbClr>
          </a:solidFill>
          <a:ln w="19050">
            <a:solidFill>
              <a:srgbClr val="8B5CF6">
                <a:alpha val="55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0116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65192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Prediction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41848" y="1993392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identifying at-risk customers using analysis and classification algorithms.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324612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02C39A">
              <a:alpha val="12000"/>
            </a:srgbClr>
          </a:solidFill>
          <a:ln w="19050">
            <a:solidFill>
              <a:srgbClr val="02C39A">
                <a:alpha val="55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7947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" y="3337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Optimization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07008" y="3776472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demand forecasting with supply chain data to minimize stockouts and reduce holding costs.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00600" y="324612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96167">
              <a:alpha val="12000"/>
            </a:srgbClr>
          </a:solidFill>
          <a:ln w="19050">
            <a:solidFill>
              <a:srgbClr val="F96167">
                <a:alpha val="55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79476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65192" y="3337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Dashboards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641848" y="3776472"/>
            <a:ext cx="3182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dashboards to live data feeds (Azure Stream Analytics) for real-time performance monitoring.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Business Intelligence delivered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04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2646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Complete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7190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extracted, cleaned, and modelled AdventureWorks data through Excel and MySQL.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08483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037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13969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Built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51560" y="24323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interactive Tableau and Power BI dashboards with filters, KPIs, and drill-downs.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279806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169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85292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Generated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51560" y="31455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key revenue drivers: Bikes, USA/Australia markets, Q2–Q4 seasonality, and affinity bundles.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5760" y="351129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3016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5661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Delivered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51560" y="385876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5 strategic recommendations covering bundling, marketing, loyalty, premium products, and forecasting.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65760" y="422452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4340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42793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Workflow Demonstrated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51560" y="45720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a complete end-to-end Business Intelligence workflow from raw data to business value.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0" y="2651760"/>
            <a:ext cx="3657600" cy="3657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443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- 6 ( Ranjith Kumar V, Roshini A, Shreyash Shende, Soundarya P, Ruturaj </a:t>
            </a:r>
            <a:r>
              <a:rPr lang="en-US" sz="1300" dirty="0" err="1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Rhatwal</a:t>
            </a:r>
            <a:r>
              <a:rPr lang="en-US" sz="13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Pushpa P )  </a:t>
            </a:r>
          </a:p>
          <a:p>
            <a:pPr algn="ctr"/>
            <a:r>
              <a:rPr lang="en-US" sz="13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ExcelR</a:t>
            </a:r>
            <a:r>
              <a:rPr lang="en-US" sz="13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Analyst Project</a:t>
            </a:r>
            <a:endParaRPr lang="en-US" sz="1300" dirty="0"/>
          </a:p>
          <a:p>
            <a:pPr algn="ctr"/>
            <a:r>
              <a:rPr lang="en-US" sz="13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Sales Performance Project  |  July 2026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648" y="38404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38404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8404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4632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84048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4652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1304</Words>
  <Application>Microsoft Office PowerPoint</Application>
  <PresentationFormat>On-screen Show (16:9)</PresentationFormat>
  <Paragraphs>250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 Sales Analysis – Group 6</dc:title>
  <dc:subject>PptxGenJS Presentation</dc:subject>
  <dc:creator>PptxGenJS</dc:creator>
  <cp:lastModifiedBy>soundarya p</cp:lastModifiedBy>
  <cp:revision>5</cp:revision>
  <dcterms:created xsi:type="dcterms:W3CDTF">2026-07-05T14:19:38Z</dcterms:created>
  <dcterms:modified xsi:type="dcterms:W3CDTF">2026-07-06T07:47:53Z</dcterms:modified>
</cp:coreProperties>
</file>